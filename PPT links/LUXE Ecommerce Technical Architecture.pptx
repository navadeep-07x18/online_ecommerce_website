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DM Sans"/>
      <ns0:bold ns1:id="rIdFont21"/>
      <ns0:regular ns1:id="rIdFont22"/>
    </ns0:embeddedFont>
    <ns0:embeddedFont>
      <ns0:font typeface="Space Grotesk"/>
      <ns0:bold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d7cdaec3-b2c0-4504-ba50-b9e7e649302d.fntdata" /><ns0:Relationship Id="rIdFont22" Type="http://schemas.openxmlformats.org/officeDocument/2006/relationships/font" Target="fonts/93ca5c52-a71a-4418-8a09-c74e7056ffa3.fntdata" /><ns0:Relationship Id="rIdFont23" Type="http://schemas.openxmlformats.org/officeDocument/2006/relationships/font" Target="fonts/7f80d998-fdfe-46e2-916e-76cadcf07660.fntdata" /><ns0:Relationship Id="rIdFont24" Type="http://schemas.openxmlformats.org/officeDocument/2006/relationships/font" Target="fonts/93feab62-2e00-40c4-80d7-b5c795900caf.fntdata" /><ns0:Relationship Id="rIdFont25" Type="http://schemas.openxmlformats.org/officeDocument/2006/relationships/font" Target="fonts/a289807e-cbeb-4e59-b9bb-7e2b7d38e63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4065"/>
            <a:ext cx="10972800" cy="3714750"/>
          </a:xfrm>
          <a:prstGeom prst="roundRect">
            <a:avLst>
              <a:gd name="adj" fmla="val 35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85825" y="2484090"/>
          <a:ext cx="10420348" cy="33147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27423"/>
                <a:gridCol w="3463230"/>
                <a:gridCol w="2026592"/>
                <a:gridCol w="3403103"/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59E0B"/>
                          </a:solidFill>
                          <a:latin typeface="DM Sans"/>
                        </a:rPr>
                        <a:t>Member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Roll no.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8BDF8"/>
                          </a:solidFill>
                          <a:latin typeface="DM Sans"/>
                        </a:rPr>
                        <a:t>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JetBrains Mono"/>
                        </a:rPr>
                        <a:t>MEMBER1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S.V.Navadeep Sai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JetBrains Mono"/>
                        </a:rPr>
                        <a:t>24KB1A05JW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59E0B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JetBrains Mono"/>
                        </a:rPr>
                        <a:t>MEMBER2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K.Raghuram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JetBrains Mono"/>
                        </a:rPr>
                        <a:t>24KB1A05Q9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8BDF8"/>
                          </a:solidFill>
                          <a:latin typeface="DM Sans"/>
                        </a:rPr>
                        <a:t>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JetBrains Mono"/>
                        </a:rPr>
                        <a:t>MEMBER3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T.Siddish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JetBrains Mono"/>
                        </a:rPr>
                        <a:t>24KB1A05KT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4D399"/>
                          </a:solidFill>
                          <a:latin typeface="DM Sans"/>
                        </a:rPr>
                        <a:t>DataBase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JetBrains Mono"/>
                        </a:rPr>
                        <a:t>MEMBER4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B.Venu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JetBrains Mono"/>
                        </a:rPr>
                        <a:t>24KB1A0554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59E0B"/>
                          </a:solidFill>
                          <a:latin typeface="DM Sans"/>
                        </a:rPr>
                        <a:t>Integration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JetBrains Mono"/>
                        </a:rPr>
                        <a:t>MEMBER5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P.Satya Durga Sanjay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JetBrains Mono"/>
                        </a:rPr>
                        <a:t>24KB1A05FH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8BDF8"/>
                          </a:solidFill>
                          <a:latin typeface="DM Sans"/>
                        </a:rPr>
                        <a:t>Testing &amp; Deployment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809625"/>
            <a:ext cx="11582400" cy="481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FFFFF"/>
                </a:solidFill>
                <a:latin typeface="Space Grotesk"/>
              </a:rPr>
              <a:t>Online Ecommerce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67730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DM Sans"/>
              </a:rPr>
              <a:t>Presented by </a:t>
            </a:r>
            <a:r>
              <a:rPr b="1" sz="1500" i="0" u="none">
                <a:solidFill>
                  <a:srgbClr val="CBD5E1"/>
                </a:solidFill>
                <a:latin typeface="DM Sans"/>
              </a:rPr>
              <a:t>Team Falcons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— Project Roles &amp; Technical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61962"/>
            <a:ext cx="461367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59E0B"/>
                </a:solidFill>
                <a:latin typeface="DM Sans"/>
              </a:rPr>
              <a:t>PROJECT PRESENTATION • LUXE ECOMMERCE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1650" y="457200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Team Name: Team Falcons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24875" y="457200"/>
            <a:ext cx="305752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67350" y="2735460"/>
            <a:ext cx="6115050" cy="2428875"/>
          </a:xfrm>
          <a:prstGeom prst="roundRect">
            <a:avLst>
              <a:gd name="adj" fmla="val 549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86425" y="3497460"/>
            <a:ext cx="2762250" cy="14478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01075" y="3497460"/>
            <a:ext cx="2762250" cy="14478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72475" y="2954535"/>
            <a:ext cx="695325" cy="247650"/>
          </a:xfrm>
          <a:prstGeom prst="roundRect">
            <a:avLst>
              <a:gd name="adj" fmla="val 2307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954535"/>
            <a:ext cx="990600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10800" y="2954535"/>
            <a:ext cx="571500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58500" y="2954535"/>
            <a:ext cx="504825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48350" y="3659385"/>
            <a:ext cx="933450" cy="22860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3000" y="3659385"/>
            <a:ext cx="1047750" cy="228600"/>
          </a:xfrm>
          <a:prstGeom prst="roundRect">
            <a:avLst>
              <a:gd name="adj" fmla="val 1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64085"/>
            <a:ext cx="1809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92735"/>
            <a:ext cx="1809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21385"/>
            <a:ext cx="2000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50035"/>
            <a:ext cx="1619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050" y="3668910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850" y="366891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8382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Frontend: The LUXE Storefront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95300"/>
            <a:ext cx="584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01 / FRONTEND ARCHITECTURE — THE LUXE STOREFRONT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495300"/>
            <a:ext cx="2924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React + Vite Customer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397323"/>
            <a:ext cx="4572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Customer-facing web application built with </a:t>
            </a:r>
            <a:r>
              <a:rPr b="1" sz="1500" i="0" u="none">
                <a:solidFill>
                  <a:srgbClr val="334155"/>
                </a:solidFill>
                <a:latin typeface="DM Sans"/>
              </a:rPr>
              <a:t>React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and </a:t>
            </a:r>
            <a:r>
              <a:rPr b="1" sz="1500" i="0" u="none">
                <a:solidFill>
                  <a:srgbClr val="334155"/>
                </a:solidFill>
                <a:latin typeface="DM Sans"/>
              </a:rPr>
              <a:t>Vite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140273"/>
            <a:ext cx="4572000" cy="47625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Browser Entry: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Customer opens the storefront in a web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768923"/>
            <a:ext cx="4572000" cy="47625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React Rendering: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React application renders the interactive shopping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397573"/>
            <a:ext cx="4572000" cy="476250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Four Categories: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Catalog displays Fashion, Accessories, Home, and Tech.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026223"/>
            <a:ext cx="4572000" cy="4762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Rich Product Cards: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Cards display images, prices, ratings, reviews, and labels.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6425" y="2954535"/>
            <a:ext cx="23931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LUXE STOREFRONT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725" y="2992635"/>
            <a:ext cx="600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DM Sans"/>
              </a:rPr>
              <a:t>Fashion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0" y="2992635"/>
            <a:ext cx="89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DM Sans"/>
              </a:rPr>
              <a:t>Accessories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6050" y="2992635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DM Sans"/>
              </a:rPr>
              <a:t>Home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3750" y="2992635"/>
            <a:ext cx="4095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DM Sans"/>
              </a:rPr>
              <a:t>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8350" y="4002285"/>
            <a:ext cx="3200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Merino Tailored Coat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8350" y="429756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DM Sans"/>
              </a:rPr>
              <a:t>$240.00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8350" y="4602360"/>
            <a:ext cx="3048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★ 4.9 (128 reviews)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0" y="4002285"/>
            <a:ext cx="3200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Studio ANC Wireless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0" y="429756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DM Sans"/>
              </a:rPr>
              <a:t>$310.00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0" y="4602360"/>
            <a:ext cx="3048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★ 4.8 (94 reviews)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4550" y="3687960"/>
            <a:ext cx="876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DM Sans"/>
              </a:rPr>
              <a:t>BESTSELLER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200" y="3687960"/>
            <a:ext cx="99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NEW ARRIVAL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28750"/>
            <a:ext cx="10972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48050"/>
            <a:ext cx="350520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448050"/>
            <a:ext cx="350520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448050"/>
            <a:ext cx="350520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65" y="193833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55" y="1938337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845" y="193833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135" y="193833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445" y="1666875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448" y="1666875"/>
            <a:ext cx="2762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688" y="1666875"/>
            <a:ext cx="3143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028" y="1666875"/>
            <a:ext cx="2762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0606" y="1666875"/>
            <a:ext cx="2476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02 / FRONTEND ARCHITECTURE — CUSTOMER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Frontend: Browsing, Cart, and Customer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718" y="1990725"/>
            <a:ext cx="23352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1. Browse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319" y="2209800"/>
            <a:ext cx="2224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Search &amp; apply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9008" y="1990725"/>
            <a:ext cx="23352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2. Select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610" y="2209800"/>
            <a:ext cx="2224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Add to cart or wishlist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299" y="1990725"/>
            <a:ext cx="23352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3. Sign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900" y="2209800"/>
            <a:ext cx="2224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Authenticate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7589" y="1990725"/>
            <a:ext cx="23352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4. Submit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3190" y="2209800"/>
            <a:ext cx="2224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Complete checkout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6879" y="1990725"/>
            <a:ext cx="23352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5. Order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2480" y="2209800"/>
            <a:ext cx="2224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Track past purchases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686175"/>
            <a:ext cx="397549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40AF"/>
                </a:solidFill>
                <a:latin typeface="Space Grotesk"/>
              </a:rPr>
              <a:t>Discovery &amp; Filtering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3686175"/>
            <a:ext cx="397549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D97706"/>
                </a:solidFill>
                <a:latin typeface="Space Grotesk"/>
              </a:rPr>
              <a:t>Cart &amp; Wishlist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3686175"/>
            <a:ext cx="38766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766E"/>
                </a:solidFill>
                <a:latin typeface="Space Grotesk"/>
              </a:rPr>
              <a:t>Authenticated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40576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Keyword Search: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Query items across catalog.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461010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Category Filter: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Narrow to specific verticals.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51625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Price &amp; Rating: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Filter by budget and stars.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40576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Shopping Cart: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Stage selected items for checkout.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525" y="461010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Wishlist Toggle: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Interactive storefront UI state.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525" y="51625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Storage Scope: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Wishlist is not persisted in database.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40576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Auth Gate: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Placing orders requires customer sign-in.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325" y="461010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Account Hub: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Registration, login, profile, saved addresses.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5325" y="51625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Order Records: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View submitted order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04950"/>
            <a:ext cx="109728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39150" y="457200"/>
            <a:ext cx="314325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1852612"/>
            <a:ext cx="1987748" cy="1476375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3398" y="1781175"/>
            <a:ext cx="2263378" cy="161925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7476" y="1885950"/>
            <a:ext cx="1968698" cy="1409700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6485" y="2576512"/>
            <a:ext cx="1524000" cy="285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18251" y="2709862"/>
            <a:ext cx="1047750" cy="285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824" y="2062162"/>
            <a:ext cx="28575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62" y="1971675"/>
            <a:ext cx="247650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850" y="2085975"/>
            <a:ext cx="36195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43437"/>
            <a:ext cx="2286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272087"/>
            <a:ext cx="1809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4643437"/>
            <a:ext cx="2000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5272087"/>
            <a:ext cx="1809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8001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Backend: API and Request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95300"/>
            <a:ext cx="5286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03 / BACKEND ARCHITECTURE — REQUEST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3450" y="4953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Location: Project link/EcomBackend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273" y="2424112"/>
            <a:ext cx="205885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React Storefront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293" y="2919412"/>
            <a:ext cx="19608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DM Sans"/>
              </a:rPr>
              <a:t>Browser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3598" y="2309812"/>
            <a:ext cx="2512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JetBrains Mono"/>
              </a:rPr>
              <a:t>HTTP Request (/api/*) 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4073" y="2681287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766E"/>
                </a:solidFill>
                <a:latin typeface="JetBrains Mono"/>
              </a:rPr>
              <a:t>⬅ JSON Payload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776" y="2333625"/>
            <a:ext cx="247062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Node.js + Express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601" y="2828925"/>
            <a:ext cx="235297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JetBrains Mono"/>
              </a:rPr>
              <a:t>Project link/EcomBackend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7276" y="2443162"/>
            <a:ext cx="1762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JetBrains Mono"/>
              </a:rPr>
              <a:t>Route Dispatch 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2400" y="2447925"/>
            <a:ext cx="2058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Route Handlers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1420" y="2695575"/>
            <a:ext cx="196081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DM Sans"/>
              </a:rPr>
              <a:t>Catalog, Auth, Orders,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619625"/>
            <a:ext cx="5429250" cy="476250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Unified Prefix: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Storefront sends HTTP requests under the 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/api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path.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248275"/>
            <a:ext cx="5429250" cy="47625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Express Routing: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Express receives incoming requests and dispatches matching handlers.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00" y="4619625"/>
            <a:ext cx="5429250" cy="476250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Core Operations: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Handles product browsing, authentication, customer accounts, and orders.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5248275"/>
            <a:ext cx="5429250" cy="47625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Health Monitoring: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Health endpoint checks whether API and database are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6537"/>
            <a:ext cx="5334000" cy="329565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76537"/>
            <a:ext cx="5334000" cy="329565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28826" y="3128962"/>
            <a:ext cx="2429023" cy="45720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06210" y="3128962"/>
            <a:ext cx="2090439" cy="4572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67163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172878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4438650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5010150"/>
            <a:ext cx="1333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5353050"/>
            <a:ext cx="1333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4438650"/>
            <a:ext cx="2190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5010150"/>
            <a:ext cx="2190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5581650"/>
            <a:ext cx="1714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04 / BACKEND ARCHITECTURE — SECURITY &amp;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Backend: Authentication and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1150" y="1704975"/>
            <a:ext cx="3333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1. Hash password with scrypt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8700" y="1704975"/>
            <a:ext cx="3333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59E0B"/>
                </a:solidFill>
                <a:latin typeface="JetBrains Mono"/>
              </a:rPr>
              <a:t>2. Issue signed Bearer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805237"/>
            <a:ext cx="4857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Customer sends signed bearer token to access personal account and order endpoints: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805237"/>
            <a:ext cx="4857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Admin-only endpoints verify administrator privileges for store operations: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350" y="1581150"/>
            <a:ext cx="47255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Authentication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50" y="1828800"/>
            <a:ext cx="4500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DM Sans"/>
              </a:rPr>
              <a:t>Users register or log in via authentication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3062287"/>
            <a:ext cx="2550162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40AF"/>
                </a:solidFill>
                <a:latin typeface="Space Grotesk"/>
              </a:rPr>
              <a:t>Customer Access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3126" y="3186112"/>
            <a:ext cx="229567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PROTECTED ROUTES (Bearer Token)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4414837"/>
            <a:ext cx="4857750" cy="4572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Profile Management: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View and update customer profile info.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4986337"/>
            <a:ext cx="5953125" cy="2286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Saved Addresses: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Manage delivery addresses on 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5329237"/>
            <a:ext cx="4857750" cy="4572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Order Actions: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Submit new orders and view order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3062287"/>
            <a:ext cx="290567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45309"/>
                </a:solidFill>
                <a:latin typeface="Space Grotesk"/>
              </a:rPr>
              <a:t>Administrator Access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0510" y="3186112"/>
            <a:ext cx="195708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JetBrains Mono"/>
              </a:rPr>
              <a:t>ADMIN-ONLY PROTECTED 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4414837"/>
            <a:ext cx="4857750" cy="45720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Product &amp; Inventory: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Add, edit, and control catalog stock.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150" y="4986337"/>
            <a:ext cx="4857750" cy="45720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Order Management: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Review and process customer orders.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150" y="5557837"/>
            <a:ext cx="5657850" cy="2286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Store Analytics:</a:t>
            </a:r>
            <a:r>
              <a:rPr b="0" sz="1350" i="0" u="none">
                <a:solidFill>
                  <a:srgbClr val="0F172A"/>
                </a:solidFill>
                <a:latin typeface="DM Sans"/>
              </a:rPr>
              <a:t> Inspect operational and sales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24875" y="457200"/>
            <a:ext cx="3057525" cy="266700"/>
          </a:xfrm>
          <a:prstGeom prst="roundRect">
            <a:avLst>
              <a:gd name="adj" fmla="val 21428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28825"/>
            <a:ext cx="4762500" cy="381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695575"/>
            <a:ext cx="4286250" cy="657225"/>
          </a:xfrm>
          <a:prstGeom prst="roundRect">
            <a:avLst>
              <a:gd name="adj" fmla="val 11594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829050"/>
            <a:ext cx="2066925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7050" y="3829050"/>
            <a:ext cx="2066925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953000"/>
            <a:ext cx="2066925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7050" y="4953000"/>
            <a:ext cx="2066925" cy="647700"/>
          </a:xfrm>
          <a:prstGeom prst="roundRect">
            <a:avLst>
              <a:gd name="adj" fmla="val 11764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324100"/>
            <a:ext cx="5867400" cy="3219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24100"/>
          <a:ext cx="5867399" cy="3219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27274"/>
                <a:gridCol w="4340125"/>
              </a:tblGrid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Persistent Data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JetBrains Mono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Customer and administrator accounts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766E"/>
                          </a:solidFill>
                          <a:latin typeface="JetBrains Mono"/>
                        </a:rPr>
                        <a:t>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Catalog details, prices, ratings, and quantities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JetBrains Mono"/>
                        </a:rPr>
                        <a:t>addresses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Customer delivery addresses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45309"/>
                          </a:solidFill>
                          <a:latin typeface="JetBrains Mono"/>
                        </a:rPr>
                        <a:t>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Order-level summary information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45309"/>
                          </a:solidFill>
                          <a:latin typeface="JetBrains Mono"/>
                        </a:rPr>
                        <a:t>order_items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Products and quantities included in each order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0" y="8001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Database: PostgreSQL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5300"/>
            <a:ext cx="569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05 / DATABASE ARCHITECTURE — RELATIONAL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9175" y="495300"/>
            <a:ext cx="2924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766E"/>
                </a:solidFill>
                <a:latin typeface="JetBrains Mono"/>
              </a:rPr>
              <a:t>PostgreSQL via Node.js pg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266950"/>
            <a:ext cx="56257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Entity Relationship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629150"/>
            <a:ext cx="4976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45309"/>
                </a:solidFill>
                <a:latin typeface="DM Sans"/>
              </a:rPr>
              <a:t>1 ➔ N (contains line items)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256" y="2828925"/>
            <a:ext cx="4929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JetBrains Mono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256" y="3048000"/>
            <a:ext cx="4929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DBEAFE"/>
                </a:solidFill>
                <a:latin typeface="DM Sans"/>
              </a:rPr>
              <a:t>Customer &amp; Admin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3505200"/>
            <a:ext cx="2059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JetBrains Mono"/>
              </a:rPr>
              <a:t>1 ➔ N (has addresses)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3505200"/>
            <a:ext cx="2059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JetBrains Mono"/>
              </a:rPr>
              <a:t>1 ➔ N (places orders)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46" y="3962400"/>
            <a:ext cx="2250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JetBrains Mono"/>
              </a:rPr>
              <a:t>addresses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46" y="41719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Delivery 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5371" y="3962400"/>
            <a:ext cx="2250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JetBrains Mono"/>
              </a:rPr>
              <a:t>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5371" y="41719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Order-Level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46" y="5086350"/>
            <a:ext cx="2250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JetBrains Mono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046" y="529590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Catalog &amp;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5371" y="5086350"/>
            <a:ext cx="2250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JetBrains Mono"/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5371" y="529590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Order Products &amp; Quantities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28750"/>
            <a:ext cx="10972800" cy="1476375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7725" y="1666875"/>
            <a:ext cx="1832520" cy="1000125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75520" y="1666875"/>
            <a:ext cx="1832520" cy="1000125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03316" y="1666875"/>
            <a:ext cx="1832520" cy="1000125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31112" y="1666875"/>
            <a:ext cx="1832520" cy="1000125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8907" y="1666875"/>
            <a:ext cx="1985367" cy="1000125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662362"/>
            <a:ext cx="533400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400" y="3548062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495" y="2081212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291" y="2081212"/>
            <a:ext cx="1047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087" y="2081212"/>
            <a:ext cx="1047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882" y="2081212"/>
            <a:ext cx="10477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06 / DATABASE ARCHITECTURE — INITIALIZATION &amp;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Database: Setup and Order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59" y="1819275"/>
            <a:ext cx="1909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JetBrains Mono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418" y="2047875"/>
            <a:ext cx="2005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API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159" y="2324100"/>
            <a:ext cx="19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Startup or route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6955" y="1819275"/>
            <a:ext cx="1909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JetBrains Mono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214" y="2047875"/>
            <a:ext cx="2005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Schema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6955" y="2324100"/>
            <a:ext cx="19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Create missing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4751" y="1819275"/>
            <a:ext cx="1909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JetBrains Mono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7010" y="2047875"/>
            <a:ext cx="2005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Product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4751" y="2324100"/>
            <a:ext cx="19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Seed demo catalog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2547" y="1819275"/>
            <a:ext cx="1909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B45309"/>
                </a:solidFill>
                <a:latin typeface="JetBrains Mono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4805" y="2047875"/>
            <a:ext cx="2005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Customer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2547" y="2324100"/>
            <a:ext cx="19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Checkout submitted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1236" y="1819275"/>
            <a:ext cx="210070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59E0B"/>
                </a:solidFill>
                <a:latin typeface="JetBrains Mono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719" y="2047875"/>
            <a:ext cx="220574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Order &amp; Items Saved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1236" y="2324100"/>
            <a:ext cx="210070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DM Sans"/>
              </a:rPr>
              <a:t>SQL Transaction Commit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3900487"/>
            <a:ext cx="63757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Space Grotesk"/>
              </a:rPr>
              <a:t>Automated Schema &amp; Catalog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6525" y="3786187"/>
            <a:ext cx="5705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Space Grotesk"/>
              </a:rPr>
              <a:t>Transactional Order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300537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Readiness Check: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On an API request, backend verifies schema readiness.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4872037"/>
            <a:ext cx="6072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Table Creation: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Creates required tables if they do not exist.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5214937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Demo Seeding: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Inserts demo products automatically when catalog is empty.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6525" y="4186237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Atomic Write: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Saves order and line items inside one database transaction.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6525" y="4757737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Data Consistency: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PostgreSQL transactions keep related order records consistent.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6525" y="5329237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Integrity Guarantee: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Prevents partial orders without matching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order_items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81650"/>
            <a:ext cx="10972800" cy="819150"/>
          </a:xfrm>
          <a:prstGeom prst="roundRect">
            <a:avLst>
              <a:gd name="adj" fmla="val 1162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28837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243137"/>
            <a:ext cx="533400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50" y="2795587"/>
            <a:ext cx="4838700" cy="69532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6050" y="2909887"/>
            <a:ext cx="4838700" cy="69532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43450" y="2386012"/>
            <a:ext cx="952500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06050" y="2500312"/>
            <a:ext cx="1028700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81675"/>
            <a:ext cx="1809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718" y="30670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131" y="30670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137" y="318135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912" y="3181350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07 / SYSTEM INTEGRATION — FRONTEND &amp; BACKEND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Integration: Storefront and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753100"/>
            <a:ext cx="10610850" cy="47625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FFFFF"/>
                </a:solidFill>
                <a:latin typeface="DM Sans"/>
              </a:rPr>
              <a:t>Reactive State Updates:</a:t>
            </a:r>
            <a:r>
              <a:rPr b="0" sz="1425" i="0" u="none">
                <a:solidFill>
                  <a:srgbClr val="FFFFFF"/>
                </a:solidFill>
                <a:latin typeface="DM Sans"/>
              </a:rPr>
              <a:t> API responses return structured data used by the storefront to update products, accounts, and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376487"/>
            <a:ext cx="323790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Space Grotesk"/>
              </a:rPr>
              <a:t>Local Development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8700" y="2424112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Vite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643312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Default Path: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Storefront calls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/api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for all backend requests.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948112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Local Forwarding: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Vite proxies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/api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calls to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127.0.0.1:5000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2490787"/>
            <a:ext cx="351293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Space Grotesk"/>
              </a:rPr>
              <a:t>Production Deployed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1300" y="2538412"/>
            <a:ext cx="933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JetBrains Mono"/>
              </a:rPr>
              <a:t>Same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3757612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Shared Domain: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Frontend and API run on the same domain.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4062412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Zero Separate Host: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Separate API domain is not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957512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Storefront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3157537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E40AF"/>
                </a:solidFill>
                <a:latin typeface="JetBrains Mono"/>
              </a:rPr>
              <a:t>/api/*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365" y="2957512"/>
            <a:ext cx="1464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Vite Dev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4365" y="3157537"/>
            <a:ext cx="1464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Forwards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4350" y="2957512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Local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4350" y="3157537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766E"/>
                </a:solidFill>
                <a:latin typeface="JetBrains Mono"/>
              </a:rPr>
              <a:t>127.0.0.1:5000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3071812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Storefront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3271837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766E"/>
                </a:solidFill>
                <a:latin typeface="JetBrains Mono"/>
              </a:rPr>
              <a:t>/api/*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1975" y="3071812"/>
            <a:ext cx="1314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Shared Origin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1975" y="3271837"/>
            <a:ext cx="13144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No extra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1225" y="3071812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DM Sans"/>
              </a:rPr>
              <a:t>Express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1225" y="3271837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766E"/>
                </a:solidFill>
                <a:latin typeface="JetBrains Mono"/>
              </a:rPr>
              <a:t>Serverless Route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1762125"/>
            <a:ext cx="2108448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3973" y="1685925"/>
            <a:ext cx="3008709" cy="1409700"/>
          </a:xfrm>
          <a:prstGeom prst="roundRect">
            <a:avLst>
              <a:gd name="adj" fmla="val 675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2382" y="1666875"/>
            <a:ext cx="2483792" cy="1447800"/>
          </a:xfrm>
          <a:prstGeom prst="roundRect">
            <a:avLst>
              <a:gd name="adj" fmla="val 6578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32414" y="4267200"/>
            <a:ext cx="4649985" cy="148590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74" y="1971675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348" y="24003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927" y="187642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757" y="240030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854" y="1876425"/>
            <a:ext cx="2667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1014" y="452437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21481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805362"/>
            <a:ext cx="1333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395912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08 / SYSTEM INTEGRATION — CLOUD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Integration: Vercel and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14" y="2371725"/>
            <a:ext cx="221726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06" y="2619375"/>
            <a:ext cx="21116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Customer / Admin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5723" y="2171700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HTTPS + /api/*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3893" y="2276475"/>
            <a:ext cx="34488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Vercel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6009" y="2524125"/>
            <a:ext cx="328463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DM Sans"/>
              </a:rPr>
              <a:t>Serves Built Storefront &amp; Routes </a:t>
            </a:r>
            <a:r>
              <a:rPr b="0" sz="1125" i="0" u="none">
                <a:solidFill>
                  <a:srgbClr val="CBD5E1"/>
                </a:solidFill>
                <a:latin typeface="DM Sans"/>
              </a:rPr>
              <a:t>/api</a:t>
            </a:r>
            <a:r>
              <a:rPr b="0" sz="1125" i="0" u="none">
                <a:solidFill>
                  <a:srgbClr val="CBD5E1"/>
                </a:solidFill>
                <a:latin typeface="DM Sans"/>
              </a:rPr>
              <a:t> to Backend Function (Express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4132" y="2171700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JetBrains Mono"/>
              </a:rPr>
              <a:t>Connection URI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9324" y="2276475"/>
            <a:ext cx="27099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Supabase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3845" y="2524125"/>
            <a:ext cx="25808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34155"/>
                </a:solidFill>
                <a:latin typeface="DM Sans"/>
              </a:rPr>
              <a:t>Connected via Vercel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191000"/>
            <a:ext cx="6151364" cy="4572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Serverless Dispatch: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Vercel serves the storefront and routes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/api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traffic to the backend 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781550"/>
            <a:ext cx="6151364" cy="4572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Database Link: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Express API connects to PostgreSQL using an environment connection URI.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372100"/>
            <a:ext cx="6151364" cy="4572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Documented Setup: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README details linking Supabase PostgreSQL via Vercel’s Supabase integration.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1014" y="4495800"/>
            <a:ext cx="5030985" cy="24765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Space Grotesk"/>
              </a:rPr>
              <a:t>Secret Isolation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1014" y="4838700"/>
            <a:ext cx="42880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DM Sans"/>
              </a:rPr>
              <a:t>Secrets and database connection strings belong strictly in server-side environment variables—never in the browser bundle or Git.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7725" y="1638300"/>
            <a:ext cx="2975371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6971" y="1647825"/>
            <a:ext cx="2956321" cy="1114425"/>
          </a:xfrm>
          <a:prstGeom prst="roundRect">
            <a:avLst>
              <a:gd name="adj" fmla="val 8547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27168" y="1628775"/>
            <a:ext cx="3517106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48062"/>
            <a:ext cx="5372100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548062"/>
            <a:ext cx="5372100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938712"/>
            <a:ext cx="5372100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300" y="4938712"/>
            <a:ext cx="5372100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546" y="2100262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43" y="2100262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298" y="1819275"/>
            <a:ext cx="27622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207" y="1819275"/>
            <a:ext cx="32385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746" y="1819275"/>
            <a:ext cx="3619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09 / DEPLOYMENT ARCHITECTURE — MONOREPO BUILD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Deployment: Building the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352" y="2181225"/>
            <a:ext cx="343011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Space Grotesk"/>
              </a:rP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22" y="2419350"/>
            <a:ext cx="32667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JetBrains Mono"/>
              </a:rPr>
              <a:t>npm-workspaces Monorepo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0074" y="2181225"/>
            <a:ext cx="343011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FFFFF"/>
                </a:solidFill>
                <a:latin typeface="Space Grotesk"/>
              </a:rPr>
              <a:t>Vercel Build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744" y="2419350"/>
            <a:ext cx="32667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DBEAFE"/>
                </a:solidFill>
                <a:latin typeface="JetBrains Mono"/>
              </a:rPr>
              <a:t>npm run build (Root Dir)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7652" y="2181225"/>
            <a:ext cx="41161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Space Grotesk"/>
              </a:rPr>
              <a:t>Deployed Storefront &amp;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5655" y="2419350"/>
            <a:ext cx="392013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766E"/>
                </a:solidFill>
                <a:latin typeface="JetBrains Mono"/>
              </a:rPr>
              <a:t>Single-Project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3767137"/>
            <a:ext cx="64758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Space Grotesk"/>
              </a:rPr>
              <a:t>Workspace Monorepo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407193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Single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npm-workspaces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repository containing storefront and backend.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767137"/>
            <a:ext cx="5762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Space Grotesk"/>
              </a:rPr>
              <a:t>Root &amp; Build Command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407193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Vercel root directory is repository root running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npm run build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5157787"/>
            <a:ext cx="64758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Space Grotesk"/>
              </a:rPr>
              <a:t>Frontend Build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" y="546258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Compiled static assets output to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Project link/Ecommerce/dist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5157787"/>
            <a:ext cx="5762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Space Grotesk"/>
              </a:rPr>
              <a:t>API Catch-All Entry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546258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Entry point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api/[...path].js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forwards API traffic to Express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6311056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63556" y="2343150"/>
            <a:ext cx="4318843" cy="165735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63556" y="4191000"/>
            <a:ext cx="4318843" cy="1257300"/>
          </a:xfrm>
          <a:prstGeom prst="roundRect">
            <a:avLst>
              <a:gd name="adj" fmla="val 9090"/>
            </a:avLst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06100" y="4419600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28962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7195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31006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900612"/>
            <a:ext cx="19050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10 / DEPLOYMENT ARCHITECTURE — ENVIRONMENT &amp;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Deployment: Configuration and Health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686050"/>
            <a:ext cx="75581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Production Environment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05150"/>
            <a:ext cx="5853856" cy="4572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Required Secrets: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Set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TOKEN_SECRET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,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ADMIN_EMAIL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, and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ADMIN_PASSWORD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in Vercel.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695700"/>
            <a:ext cx="5853856" cy="4572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Database URI: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Supply PostgreSQL URI via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DATABASE_URL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or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POSTGRES_URL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286250"/>
            <a:ext cx="5853856" cy="4572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Same-Domain Rule: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Do not set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VITE_API_BASE_URL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or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CORS_ORIGIN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876800"/>
            <a:ext cx="7198258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Post-Deploy Check: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Query 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/api/health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to verify live readiness.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3106" y="2552700"/>
            <a:ext cx="47188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// Vercel Environment Variables (Redacted)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3106" y="2819400"/>
            <a:ext cx="47188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TOKEN_SECRET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3106" y="3076575"/>
            <a:ext cx="47188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ADMIN_EMAIL 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3106" y="3333750"/>
            <a:ext cx="47188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ADMIN_PASSWORD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3106" y="3590925"/>
            <a:ext cx="47188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POSTGRES_URL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156" y="4762500"/>
            <a:ext cx="39568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DM Sans"/>
              </a:rPr>
              <a:t>Confirms that both the Express API and PostgreSQL database connection are available.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2156" y="4443412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766E"/>
                </a:solidFill>
                <a:latin typeface="JetBrains Mono"/>
              </a:rPr>
              <a:t>GET /api/health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1350" y="4457700"/>
            <a:ext cx="552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JetBrains Mono"/>
              </a:rPr>
              <a:t>200 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2066925"/>
          </a:xfrm>
          <a:prstGeom prst="roundRect">
            <a:avLst>
              <a:gd name="adj" fmla="val 552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519612"/>
            <a:ext cx="10972800" cy="104775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891087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690687"/>
            <a:ext cx="23812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319337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47987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11 / QUALITY &amp; TESTING — REPOSITORY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Testing: Existing Project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525" y="1681162"/>
            <a:ext cx="6467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Runs backend script checking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server.js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syntax with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node --check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2309812"/>
            <a:ext cx="52006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Runs ESLint static code analysis for the React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075" y="2938462"/>
            <a:ext cx="51149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Compiles and verifies the production frontend bundle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1657350"/>
            <a:ext cx="1547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JetBrains Mono"/>
              </a:rPr>
              <a:t>$ npm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286000"/>
            <a:ext cx="2166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JetBrains Mono"/>
              </a:rPr>
              <a:t>$ npm run lint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2914650"/>
            <a:ext cx="2321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JetBrains Mono"/>
              </a:rPr>
              <a:t>$ npm run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4767262"/>
            <a:ext cx="108013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B45309"/>
                </a:solidFill>
                <a:latin typeface="Space Grotesk"/>
              </a:rPr>
              <a:t>Current Coverage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5081587"/>
            <a:ext cx="10801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npm test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performs a syntax check on 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server.js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and is not currently a full automated unit or end-to-end test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10972800" cy="2990850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905375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0" y="5314950"/>
            <a:ext cx="304800" cy="30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7725" y="1514475"/>
          <a:ext cx="10496549" cy="26670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90291"/>
                <a:gridCol w="5981997"/>
                <a:gridCol w="2424261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System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Practical Verification Checks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Execution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DM Sans"/>
                        </a:rPr>
                        <a:t>Storefront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Confirm products load and search/filters behave properly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B45309"/>
                          </a:solidFill>
                          <a:latin typeface="JetBrains Mono"/>
                        </a:rPr>
                        <a:t>Manual Validation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DM Sans"/>
                        </a:rPr>
                        <a:t>Customer Account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Register/login, profile/addresses, order submission &amp; history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B45309"/>
                          </a:solidFill>
                          <a:latin typeface="JetBrains Mono"/>
                        </a:rPr>
                        <a:t>Manual Validation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DM Sans"/>
                        </a:rPr>
                        <a:t>Admin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Admin login, product/inventory actions, orders &amp; analytics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B45309"/>
                          </a:solidFill>
                          <a:latin typeface="JetBrains Mono"/>
                        </a:rPr>
                        <a:t>Manual Validation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766E"/>
                          </a:solidFill>
                          <a:latin typeface="DM Sans"/>
                        </a:rPr>
                        <a:t>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Verify endpoint responses across public and protected routes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B45309"/>
                          </a:solidFill>
                          <a:latin typeface="JetBrains Mono"/>
                        </a:rPr>
                        <a:t>Manual Validation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766E"/>
                          </a:solidFill>
                          <a:latin typeface="DM Sans"/>
                        </a:rPr>
                        <a:t>Deployment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Check 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/api/health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 post-deploy for database connectivity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B45309"/>
                          </a:solidFill>
                          <a:latin typeface="JetBrains Mono"/>
                        </a:rPr>
                        <a:t>Manual Validation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DM Sans"/>
              </a:rPr>
              <a:t>12 / QUALITY &amp; TESTING — VALIDATION MATRIX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Testing: End-to-End Validation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095875"/>
            <a:ext cx="11315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59E0B"/>
                </a:solidFill>
                <a:latin typeface="Space Grotesk"/>
              </a:rPr>
              <a:t>Next Steps: Testing Improvement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381625"/>
            <a:ext cx="10229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DM Sans"/>
              </a:rPr>
              <a:t>Add automated API integration tests and browser-based end-to-end (E2E) tests covering both customer and admin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3100" y="4136677"/>
            <a:ext cx="685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11140" y="2178397"/>
            <a:ext cx="5369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59E0B"/>
                </a:solidFill>
                <a:latin typeface="DM Sans"/>
              </a:rPr>
              <a:t>ONLINE ECOMMERCE WEBSITE • TEAM FALCONS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9436" y="2568922"/>
            <a:ext cx="5013126" cy="796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b="1" sz="57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7906" y="3555652"/>
            <a:ext cx="7596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DM Sans"/>
              </a:rPr>
              <a:t>Questions &amp; Technical Discussion — LUXE Ecommerce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218" y="4479577"/>
            <a:ext cx="8691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JetBrains Mono"/>
              </a:rPr>
              <a:t>S.V.Navadeep Sai • K.Raghuram • T.Siddish • B.Venu • P.Satya Durga Sanjay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